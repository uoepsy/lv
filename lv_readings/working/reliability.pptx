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317E-71F3-4BDE-BEDB-A31D0CF21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F5D5B-6C58-44B6-B15C-92987C635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A909-B6B7-49F1-A520-9B967F0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28F4-2B8F-449A-A26B-7FC107F8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EE606-D533-480D-8967-6574207A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159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F281-AF44-4E25-8CAD-6E97FF82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A041E-2C47-494C-9580-315C49EC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ED00-0142-4366-BB8B-DAD4AD8D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BBBC-DD2B-46ED-BC16-D9F1464E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4C32-F456-4B53-91F3-0DBBDED6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526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6FFE-F9AB-4610-9ADF-460443D4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CA775-72EF-448B-BB7F-2D9C835E1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EC8D0-E6E7-4D40-ACB6-854BD80B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C025D-C6C6-4BE6-9A62-8219784BC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F36C5-493A-4599-B3E2-525E0ABF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0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901E-6353-4F1D-BA81-7F3D7180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AFCE5-2852-4824-AE8E-D57369ABE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8847B-90BE-41B5-B1C6-D590D3F42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528BB-E710-4889-B5A0-060EA38A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985C3-6214-42C1-A684-E1A34520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97558-CEB5-4527-B66D-A27D2304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8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9C51-BC2F-4FD2-A692-BFA1113C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C5775-66BC-4823-90A1-618114A25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1FC49-BE0A-4822-8238-B3247C123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3E286-464C-45FD-A1CC-04D6B413F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2582AD-723E-4371-8D55-ED5A1ABF8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6B5D9-1F7B-4F1D-B1D5-564D888D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B0D6F-10D2-4EBD-BF58-2FFBC6F7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ABA9D-BBA3-4509-8F03-4B8BD4A7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99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F5E4-42D3-4D6F-A4B6-4DEFCEB1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EAC9E-E0D5-47E7-AFE7-C031E0DF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6EC61-E0D2-4D5C-AEB1-1BF74F0F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6444C-B0A6-4123-AE8D-7AF874AC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06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AA228-21AB-4C61-A777-4E7D03F9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0B98A-5AAB-4C82-9118-D9BB0B15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4BE8A-D949-4CD2-8847-34A4973E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49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B9CFD-583B-4DA8-A119-4722EDF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3A7E1-3315-4FD1-8EED-53E5074B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ABEB4-0EB6-4A8B-BB0D-9A3B08701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C66F8-508C-4AE5-B455-0BE4704D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E3010-9910-4780-B9E4-55AC0480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167DF-D65D-47C5-9CD8-2FBC7105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16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0691-E0A9-4317-BAEE-8B6A0412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B8E43-FD95-4799-B456-AE759AAFC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8B895-C1AA-431B-9993-0657B8695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CB707-60A5-496E-96B0-0340C64F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BB70E-5C89-4DDA-BBAD-E918CFDB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C69A1-993B-4286-ADCE-622D4506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47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F459-9C09-495B-8F1C-E5308A4E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E05BE-0627-47C9-B915-9FCB073AB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1901A-40BE-4C1B-AA0A-8248C410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73F3D-B552-4D9A-B1CB-0B05D51A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391A6-EF29-46F4-A422-03FA086A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61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5026F-6890-4739-98E5-3E1888E26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3C0EC-D21C-4BC2-93E7-087BEAE30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6F605-D2F8-40F5-B99E-149436E7F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56280-2379-458D-9D4B-8A8283DD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9687C-B04A-4700-A86D-158882CB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39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AB97C-B51B-437B-9BDB-D0A01D7C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37F5A-F943-44B6-B585-64141014E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A8A7B-BCFB-44A7-8570-8F3037A53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C6E6A-9B5C-4F82-9038-CCEA0890F03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E2817-DFD0-465E-A493-05AC24127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5FA7B-5795-4C27-A4C3-401A38435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21433-A77A-4EE2-9136-6FCD130FA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65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036DB5-AB2C-4EDB-95A1-18F7C0393B5C}"/>
              </a:ext>
            </a:extLst>
          </p:cNvPr>
          <p:cNvSpPr/>
          <p:nvPr/>
        </p:nvSpPr>
        <p:spPr>
          <a:xfrm>
            <a:off x="4428066" y="778938"/>
            <a:ext cx="1134532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657416-61A1-4F6B-B5BA-F4F8F7F22E1C}"/>
              </a:ext>
            </a:extLst>
          </p:cNvPr>
          <p:cNvSpPr/>
          <p:nvPr/>
        </p:nvSpPr>
        <p:spPr>
          <a:xfrm>
            <a:off x="1075265" y="778939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83699F-0390-45FD-B9D2-7F59F056C0FA}"/>
              </a:ext>
            </a:extLst>
          </p:cNvPr>
          <p:cNvSpPr/>
          <p:nvPr/>
        </p:nvSpPr>
        <p:spPr>
          <a:xfrm>
            <a:off x="7780866" y="778939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BA4AF2-AB8F-4D5C-8713-8349E9E5FE0B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209798" y="1333504"/>
            <a:ext cx="22182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041B03-4BB6-4546-B64D-A90531150A47}"/>
              </a:ext>
            </a:extLst>
          </p:cNvPr>
          <p:cNvCxnSpPr>
            <a:cxnSpLocks/>
            <a:stCxn id="7" idx="2"/>
            <a:endCxn id="4" idx="3"/>
          </p:cNvCxnSpPr>
          <p:nvPr/>
        </p:nvCxnSpPr>
        <p:spPr>
          <a:xfrm flipH="1">
            <a:off x="5562598" y="1333504"/>
            <a:ext cx="22182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1075265" y="2442634"/>
            <a:ext cx="991810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When we measure something, there are two things that contribute to the number we get out: </a:t>
            </a:r>
          </a:p>
          <a:p>
            <a:pPr marL="342900" indent="-342900">
              <a:buAutoNum type="arabicPeriod"/>
            </a:pPr>
            <a:r>
              <a:rPr lang="en-GB" dirty="0"/>
              <a:t>the true value of the thing we want to measure</a:t>
            </a:r>
          </a:p>
          <a:p>
            <a:pPr marL="342900" indent="-342900">
              <a:buAutoNum type="arabicPeriod"/>
            </a:pPr>
            <a:r>
              <a:rPr lang="en-GB" dirty="0"/>
              <a:t>Error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When I measure how much Dougal weighs, and I see “23.42” on the scales. This might be a little above, </a:t>
            </a:r>
          </a:p>
          <a:p>
            <a:r>
              <a:rPr lang="en-GB" dirty="0"/>
              <a:t>or a little below Dougal’s “true weight”. This bit above/below is the error!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C91A27-0BE1-4C65-A753-434D0BFF8785}"/>
              </a:ext>
            </a:extLst>
          </p:cNvPr>
          <p:cNvSpPr/>
          <p:nvPr/>
        </p:nvSpPr>
        <p:spPr>
          <a:xfrm>
            <a:off x="4428066" y="4673606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“23.42kg”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4E19D7-5029-4372-9AEB-503CE4CCCE18}"/>
              </a:ext>
            </a:extLst>
          </p:cNvPr>
          <p:cNvSpPr/>
          <p:nvPr/>
        </p:nvSpPr>
        <p:spPr>
          <a:xfrm>
            <a:off x="855133" y="4673607"/>
            <a:ext cx="1507067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Dougal’s true weight: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23.51475…kg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3DFC31-B3A5-4731-8FDF-272840751F6D}"/>
              </a:ext>
            </a:extLst>
          </p:cNvPr>
          <p:cNvSpPr/>
          <p:nvPr/>
        </p:nvSpPr>
        <p:spPr>
          <a:xfrm>
            <a:off x="7780866" y="4673607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7AA2D5-45A3-4621-9991-6A97B029B661}"/>
              </a:ext>
            </a:extLst>
          </p:cNvPr>
          <p:cNvCxnSpPr>
            <a:cxnSpLocks/>
            <a:stCxn id="15" idx="6"/>
            <a:endCxn id="14" idx="1"/>
          </p:cNvCxnSpPr>
          <p:nvPr/>
        </p:nvCxnSpPr>
        <p:spPr>
          <a:xfrm>
            <a:off x="2362200" y="5228172"/>
            <a:ext cx="20658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FF235B-CF81-4F02-A5AB-0B601703E420}"/>
              </a:ext>
            </a:extLst>
          </p:cNvPr>
          <p:cNvCxnSpPr>
            <a:cxnSpLocks/>
            <a:stCxn id="16" idx="2"/>
            <a:endCxn id="14" idx="3"/>
          </p:cNvCxnSpPr>
          <p:nvPr/>
        </p:nvCxnSpPr>
        <p:spPr>
          <a:xfrm flipH="1">
            <a:off x="5740400" y="5228172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1FDE2BC-929F-4219-B563-E76D650C755A}"/>
              </a:ext>
            </a:extLst>
          </p:cNvPr>
          <p:cNvSpPr txBox="1"/>
          <p:nvPr/>
        </p:nvSpPr>
        <p:spPr>
          <a:xfrm>
            <a:off x="3017246" y="964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2A56D-A65E-440B-B2A9-7A7A9E2F85DE}"/>
              </a:ext>
            </a:extLst>
          </p:cNvPr>
          <p:cNvSpPr txBox="1"/>
          <p:nvPr/>
        </p:nvSpPr>
        <p:spPr>
          <a:xfrm>
            <a:off x="6546287" y="964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2ACE97-590E-4DB0-AB1B-F8918EE76032}"/>
              </a:ext>
            </a:extLst>
          </p:cNvPr>
          <p:cNvSpPr txBox="1"/>
          <p:nvPr/>
        </p:nvSpPr>
        <p:spPr>
          <a:xfrm>
            <a:off x="3115732" y="48588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3D5E8-D142-4940-BBE5-60FFF6193267}"/>
              </a:ext>
            </a:extLst>
          </p:cNvPr>
          <p:cNvSpPr txBox="1"/>
          <p:nvPr/>
        </p:nvSpPr>
        <p:spPr>
          <a:xfrm>
            <a:off x="6697130" y="48438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18933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1075265" y="2442634"/>
            <a:ext cx="10374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Forget about Dougal specifically, and just think about the dog-weighing scales that I’m using, and all the dogs</a:t>
            </a:r>
          </a:p>
          <a:p>
            <a:r>
              <a:rPr lang="en-GB" dirty="0"/>
              <a:t>that there could ever possible be and all the measurements that we could ever possibly take.  </a:t>
            </a:r>
          </a:p>
          <a:p>
            <a:r>
              <a:rPr lang="en-GB" dirty="0"/>
              <a:t>In this abstract world, this diagram still works:  </a:t>
            </a:r>
          </a:p>
          <a:p>
            <a:endParaRPr lang="en-GB" dirty="0"/>
          </a:p>
          <a:p>
            <a:r>
              <a:rPr lang="en-GB" dirty="0"/>
              <a:t>But now we can put some variances on them. </a:t>
            </a:r>
          </a:p>
          <a:p>
            <a:r>
              <a:rPr lang="en-GB" dirty="0"/>
              <a:t>Suppose that the variance of all dogs weights is 36.4066336…..</a:t>
            </a:r>
          </a:p>
          <a:p>
            <a:r>
              <a:rPr lang="en-GB" dirty="0"/>
              <a:t>And the error variance is 4.. 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A36339F-5454-4A58-97D6-786D10811FDF}"/>
              </a:ext>
            </a:extLst>
          </p:cNvPr>
          <p:cNvCxnSpPr>
            <a:cxnSpLocks/>
          </p:cNvCxnSpPr>
          <p:nvPr/>
        </p:nvCxnSpPr>
        <p:spPr>
          <a:xfrm rot="5400000" flipH="1">
            <a:off x="769417" y="5313889"/>
            <a:ext cx="392137" cy="220705"/>
          </a:xfrm>
          <a:prstGeom prst="curvedConnector4">
            <a:avLst>
              <a:gd name="adj1" fmla="val -99717"/>
              <a:gd name="adj2" fmla="val 330171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EFF23871-5E7B-44ED-BD0D-0703F4B9502A}"/>
              </a:ext>
            </a:extLst>
          </p:cNvPr>
          <p:cNvCxnSpPr>
            <a:cxnSpLocks/>
          </p:cNvCxnSpPr>
          <p:nvPr/>
        </p:nvCxnSpPr>
        <p:spPr>
          <a:xfrm flipH="1">
            <a:off x="8749250" y="5228172"/>
            <a:ext cx="166149" cy="392137"/>
          </a:xfrm>
          <a:prstGeom prst="curvedConnector4">
            <a:avLst>
              <a:gd name="adj1" fmla="val -300653"/>
              <a:gd name="adj2" fmla="val 199717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2713F36-E77E-4ABB-9AF2-639D20EF35C8}"/>
              </a:ext>
            </a:extLst>
          </p:cNvPr>
          <p:cNvSpPr/>
          <p:nvPr/>
        </p:nvSpPr>
        <p:spPr>
          <a:xfrm>
            <a:off x="4428066" y="4656674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Recorded weights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E03B215-2816-4837-A26D-DBDA786ED3FD}"/>
              </a:ext>
            </a:extLst>
          </p:cNvPr>
          <p:cNvSpPr/>
          <p:nvPr/>
        </p:nvSpPr>
        <p:spPr>
          <a:xfrm>
            <a:off x="855133" y="4656675"/>
            <a:ext cx="1507067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True weights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D2A5CC6-D245-494C-8F75-9B5052ECDB2E}"/>
              </a:ext>
            </a:extLst>
          </p:cNvPr>
          <p:cNvSpPr/>
          <p:nvPr/>
        </p:nvSpPr>
        <p:spPr>
          <a:xfrm>
            <a:off x="7780866" y="4656675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CE94C6-5209-43DB-A801-51320797C9B0}"/>
              </a:ext>
            </a:extLst>
          </p:cNvPr>
          <p:cNvCxnSpPr>
            <a:cxnSpLocks/>
            <a:stCxn id="30" idx="6"/>
            <a:endCxn id="29" idx="1"/>
          </p:cNvCxnSpPr>
          <p:nvPr/>
        </p:nvCxnSpPr>
        <p:spPr>
          <a:xfrm>
            <a:off x="2362200" y="5211240"/>
            <a:ext cx="20658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2912D2-53C7-430B-BD98-44D773EFA122}"/>
              </a:ext>
            </a:extLst>
          </p:cNvPr>
          <p:cNvCxnSpPr>
            <a:cxnSpLocks/>
            <a:stCxn id="31" idx="2"/>
            <a:endCxn id="29" idx="3"/>
          </p:cNvCxnSpPr>
          <p:nvPr/>
        </p:nvCxnSpPr>
        <p:spPr>
          <a:xfrm flipH="1">
            <a:off x="5740400" y="5211240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2782C8-E33D-4DEE-951C-3382D48152D4}"/>
              </a:ext>
            </a:extLst>
          </p:cNvPr>
          <p:cNvSpPr txBox="1"/>
          <p:nvPr/>
        </p:nvSpPr>
        <p:spPr>
          <a:xfrm>
            <a:off x="0" y="5967971"/>
            <a:ext cx="158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36.4066336…..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D04670-45DA-458B-A229-010F6E47A0D9}"/>
              </a:ext>
            </a:extLst>
          </p:cNvPr>
          <p:cNvSpPr txBox="1"/>
          <p:nvPr/>
        </p:nvSpPr>
        <p:spPr>
          <a:xfrm>
            <a:off x="8991600" y="5982275"/>
            <a:ext cx="158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039B63-C99D-418E-8744-117E255C7D95}"/>
              </a:ext>
            </a:extLst>
          </p:cNvPr>
          <p:cNvSpPr txBox="1"/>
          <p:nvPr/>
        </p:nvSpPr>
        <p:spPr>
          <a:xfrm>
            <a:off x="3115732" y="48588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BABD5E-7180-4E17-A1D6-F7BD939A4546}"/>
              </a:ext>
            </a:extLst>
          </p:cNvPr>
          <p:cNvSpPr txBox="1"/>
          <p:nvPr/>
        </p:nvSpPr>
        <p:spPr>
          <a:xfrm>
            <a:off x="6697130" y="48438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827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1075265" y="2442634"/>
            <a:ext cx="7160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would mean the variance of recorded weights </a:t>
            </a:r>
          </a:p>
          <a:p>
            <a:r>
              <a:rPr lang="en-GB" dirty="0"/>
              <a:t>(the numbers we would actually record) is 36.406636…. + 4 = 40.406636….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A36339F-5454-4A58-97D6-786D10811FDF}"/>
              </a:ext>
            </a:extLst>
          </p:cNvPr>
          <p:cNvCxnSpPr>
            <a:cxnSpLocks/>
          </p:cNvCxnSpPr>
          <p:nvPr/>
        </p:nvCxnSpPr>
        <p:spPr>
          <a:xfrm rot="5400000" flipH="1">
            <a:off x="769417" y="5313889"/>
            <a:ext cx="392137" cy="220705"/>
          </a:xfrm>
          <a:prstGeom prst="curvedConnector4">
            <a:avLst>
              <a:gd name="adj1" fmla="val -99717"/>
              <a:gd name="adj2" fmla="val 330171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EFF23871-5E7B-44ED-BD0D-0703F4B9502A}"/>
              </a:ext>
            </a:extLst>
          </p:cNvPr>
          <p:cNvCxnSpPr>
            <a:cxnSpLocks/>
          </p:cNvCxnSpPr>
          <p:nvPr/>
        </p:nvCxnSpPr>
        <p:spPr>
          <a:xfrm flipH="1">
            <a:off x="8749250" y="5228172"/>
            <a:ext cx="166149" cy="392137"/>
          </a:xfrm>
          <a:prstGeom prst="curvedConnector4">
            <a:avLst>
              <a:gd name="adj1" fmla="val -300653"/>
              <a:gd name="adj2" fmla="val 199717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2713F36-E77E-4ABB-9AF2-639D20EF35C8}"/>
              </a:ext>
            </a:extLst>
          </p:cNvPr>
          <p:cNvSpPr/>
          <p:nvPr/>
        </p:nvSpPr>
        <p:spPr>
          <a:xfrm>
            <a:off x="4428066" y="4656674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Recorded weights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E03B215-2816-4837-A26D-DBDA786ED3FD}"/>
              </a:ext>
            </a:extLst>
          </p:cNvPr>
          <p:cNvSpPr/>
          <p:nvPr/>
        </p:nvSpPr>
        <p:spPr>
          <a:xfrm>
            <a:off x="855133" y="4656675"/>
            <a:ext cx="1507067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True weights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D2A5CC6-D245-494C-8F75-9B5052ECDB2E}"/>
              </a:ext>
            </a:extLst>
          </p:cNvPr>
          <p:cNvSpPr/>
          <p:nvPr/>
        </p:nvSpPr>
        <p:spPr>
          <a:xfrm>
            <a:off x="7780866" y="4656675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CE94C6-5209-43DB-A801-51320797C9B0}"/>
              </a:ext>
            </a:extLst>
          </p:cNvPr>
          <p:cNvCxnSpPr>
            <a:cxnSpLocks/>
            <a:stCxn id="30" idx="6"/>
            <a:endCxn id="29" idx="1"/>
          </p:cNvCxnSpPr>
          <p:nvPr/>
        </p:nvCxnSpPr>
        <p:spPr>
          <a:xfrm>
            <a:off x="2362200" y="5211240"/>
            <a:ext cx="20658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2912D2-53C7-430B-BD98-44D773EFA122}"/>
              </a:ext>
            </a:extLst>
          </p:cNvPr>
          <p:cNvCxnSpPr>
            <a:cxnSpLocks/>
            <a:stCxn id="31" idx="2"/>
            <a:endCxn id="29" idx="3"/>
          </p:cNvCxnSpPr>
          <p:nvPr/>
        </p:nvCxnSpPr>
        <p:spPr>
          <a:xfrm flipH="1">
            <a:off x="5740400" y="5211240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2782C8-E33D-4DEE-951C-3382D48152D4}"/>
              </a:ext>
            </a:extLst>
          </p:cNvPr>
          <p:cNvSpPr txBox="1"/>
          <p:nvPr/>
        </p:nvSpPr>
        <p:spPr>
          <a:xfrm>
            <a:off x="0" y="5967971"/>
            <a:ext cx="158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36.4066336…..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D04670-45DA-458B-A229-010F6E47A0D9}"/>
              </a:ext>
            </a:extLst>
          </p:cNvPr>
          <p:cNvSpPr txBox="1"/>
          <p:nvPr/>
        </p:nvSpPr>
        <p:spPr>
          <a:xfrm>
            <a:off x="8991600" y="5982275"/>
            <a:ext cx="158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04440-4ED2-40C5-8630-4AFFDE0ACBF9}"/>
              </a:ext>
            </a:extLst>
          </p:cNvPr>
          <p:cNvSpPr txBox="1"/>
          <p:nvPr/>
        </p:nvSpPr>
        <p:spPr>
          <a:xfrm>
            <a:off x="3115732" y="48588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54FBF-E443-46DC-B663-C9FEBBC088B8}"/>
              </a:ext>
            </a:extLst>
          </p:cNvPr>
          <p:cNvSpPr txBox="1"/>
          <p:nvPr/>
        </p:nvSpPr>
        <p:spPr>
          <a:xfrm>
            <a:off x="6697130" y="48438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05574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1075265" y="2442634"/>
            <a:ext cx="53383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would be if we had some very </a:t>
            </a:r>
            <a:r>
              <a:rPr lang="en-GB" dirty="0" err="1"/>
              <a:t>very</a:t>
            </a:r>
            <a:r>
              <a:rPr lang="en-GB" dirty="0"/>
              <a:t> accurate scales</a:t>
            </a:r>
          </a:p>
          <a:p>
            <a:r>
              <a:rPr lang="en-GB" dirty="0"/>
              <a:t>The error variance gets smaller</a:t>
            </a:r>
          </a:p>
          <a:p>
            <a:endParaRPr lang="en-GB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A36339F-5454-4A58-97D6-786D10811FDF}"/>
              </a:ext>
            </a:extLst>
          </p:cNvPr>
          <p:cNvCxnSpPr>
            <a:cxnSpLocks/>
          </p:cNvCxnSpPr>
          <p:nvPr/>
        </p:nvCxnSpPr>
        <p:spPr>
          <a:xfrm rot="5400000" flipH="1">
            <a:off x="769417" y="5313889"/>
            <a:ext cx="392137" cy="220705"/>
          </a:xfrm>
          <a:prstGeom prst="curvedConnector4">
            <a:avLst>
              <a:gd name="adj1" fmla="val -99717"/>
              <a:gd name="adj2" fmla="val 330171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EFF23871-5E7B-44ED-BD0D-0703F4B9502A}"/>
              </a:ext>
            </a:extLst>
          </p:cNvPr>
          <p:cNvCxnSpPr>
            <a:cxnSpLocks/>
          </p:cNvCxnSpPr>
          <p:nvPr/>
        </p:nvCxnSpPr>
        <p:spPr>
          <a:xfrm flipH="1">
            <a:off x="8749250" y="5228172"/>
            <a:ext cx="166149" cy="392137"/>
          </a:xfrm>
          <a:prstGeom prst="curvedConnector4">
            <a:avLst>
              <a:gd name="adj1" fmla="val -300653"/>
              <a:gd name="adj2" fmla="val 199717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2713F36-E77E-4ABB-9AF2-639D20EF35C8}"/>
              </a:ext>
            </a:extLst>
          </p:cNvPr>
          <p:cNvSpPr/>
          <p:nvPr/>
        </p:nvSpPr>
        <p:spPr>
          <a:xfrm>
            <a:off x="4428066" y="4656674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Recorded weights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E03B215-2816-4837-A26D-DBDA786ED3FD}"/>
              </a:ext>
            </a:extLst>
          </p:cNvPr>
          <p:cNvSpPr/>
          <p:nvPr/>
        </p:nvSpPr>
        <p:spPr>
          <a:xfrm>
            <a:off x="855133" y="4656675"/>
            <a:ext cx="1507067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True weights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D2A5CC6-D245-494C-8F75-9B5052ECDB2E}"/>
              </a:ext>
            </a:extLst>
          </p:cNvPr>
          <p:cNvSpPr/>
          <p:nvPr/>
        </p:nvSpPr>
        <p:spPr>
          <a:xfrm>
            <a:off x="7780866" y="4656675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CE94C6-5209-43DB-A801-51320797C9B0}"/>
              </a:ext>
            </a:extLst>
          </p:cNvPr>
          <p:cNvCxnSpPr>
            <a:cxnSpLocks/>
            <a:stCxn id="30" idx="6"/>
            <a:endCxn id="29" idx="1"/>
          </p:cNvCxnSpPr>
          <p:nvPr/>
        </p:nvCxnSpPr>
        <p:spPr>
          <a:xfrm>
            <a:off x="2362200" y="5211240"/>
            <a:ext cx="20658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2912D2-53C7-430B-BD98-44D773EFA122}"/>
              </a:ext>
            </a:extLst>
          </p:cNvPr>
          <p:cNvCxnSpPr>
            <a:cxnSpLocks/>
            <a:stCxn id="31" idx="2"/>
            <a:endCxn id="29" idx="3"/>
          </p:cNvCxnSpPr>
          <p:nvPr/>
        </p:nvCxnSpPr>
        <p:spPr>
          <a:xfrm flipH="1">
            <a:off x="5740400" y="5211240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2782C8-E33D-4DEE-951C-3382D48152D4}"/>
              </a:ext>
            </a:extLst>
          </p:cNvPr>
          <p:cNvSpPr txBox="1"/>
          <p:nvPr/>
        </p:nvSpPr>
        <p:spPr>
          <a:xfrm>
            <a:off x="0" y="5967971"/>
            <a:ext cx="158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36.4066336…..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D04670-45DA-458B-A229-010F6E47A0D9}"/>
              </a:ext>
            </a:extLst>
          </p:cNvPr>
          <p:cNvSpPr txBox="1"/>
          <p:nvPr/>
        </p:nvSpPr>
        <p:spPr>
          <a:xfrm>
            <a:off x="8991600" y="5982275"/>
            <a:ext cx="158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0.1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A7C7A4-6354-4124-A859-972CCFD3BE8D}"/>
              </a:ext>
            </a:extLst>
          </p:cNvPr>
          <p:cNvSpPr txBox="1"/>
          <p:nvPr/>
        </p:nvSpPr>
        <p:spPr>
          <a:xfrm>
            <a:off x="3115732" y="48588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334CEC-7785-4C2D-9BD0-280881157039}"/>
              </a:ext>
            </a:extLst>
          </p:cNvPr>
          <p:cNvSpPr txBox="1"/>
          <p:nvPr/>
        </p:nvSpPr>
        <p:spPr>
          <a:xfrm>
            <a:off x="6697130" y="48438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0170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1075265" y="2442634"/>
            <a:ext cx="103164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would be if we had some very </a:t>
            </a:r>
            <a:r>
              <a:rPr lang="en-GB" dirty="0" err="1"/>
              <a:t>very</a:t>
            </a:r>
            <a:r>
              <a:rPr lang="en-GB" dirty="0"/>
              <a:t> accurate scales</a:t>
            </a:r>
          </a:p>
          <a:p>
            <a:r>
              <a:rPr lang="en-GB" dirty="0"/>
              <a:t>The error variance gets smaller</a:t>
            </a:r>
          </a:p>
          <a:p>
            <a:endParaRPr lang="en-GB" dirty="0"/>
          </a:p>
          <a:p>
            <a:r>
              <a:rPr lang="en-GB" dirty="0"/>
              <a:t>So one way to think about “reliability” is the proportion of score variance that is attributed to true variance.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8ABC9-D10C-4FB9-8206-24A7F92DA997}"/>
              </a:ext>
            </a:extLst>
          </p:cNvPr>
          <p:cNvSpPr txBox="1"/>
          <p:nvPr/>
        </p:nvSpPr>
        <p:spPr>
          <a:xfrm>
            <a:off x="1566333" y="4267199"/>
            <a:ext cx="2506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7BBCDE-CA26-47B0-8C0D-0068D92B6213}"/>
              </a:ext>
            </a:extLst>
          </p:cNvPr>
          <p:cNvSpPr txBox="1"/>
          <p:nvPr/>
        </p:nvSpPr>
        <p:spPr>
          <a:xfrm>
            <a:off x="1566332" y="4636531"/>
            <a:ext cx="277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observed scores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9E28F8-81F5-46EF-ABB4-DD0E7D9ED0A7}"/>
              </a:ext>
            </a:extLst>
          </p:cNvPr>
          <p:cNvCxnSpPr/>
          <p:nvPr/>
        </p:nvCxnSpPr>
        <p:spPr>
          <a:xfrm>
            <a:off x="1566333" y="4636531"/>
            <a:ext cx="21759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EFE57C3-1AC6-4F5D-93B6-35E7D93DBB10}"/>
              </a:ext>
            </a:extLst>
          </p:cNvPr>
          <p:cNvSpPr txBox="1"/>
          <p:nvPr/>
        </p:nvSpPr>
        <p:spPr>
          <a:xfrm>
            <a:off x="254000" y="4451865"/>
            <a:ext cx="358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Reliability =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D3787-D25C-4EA6-B07D-760B31AE5881}"/>
              </a:ext>
            </a:extLst>
          </p:cNvPr>
          <p:cNvSpPr txBox="1"/>
          <p:nvPr/>
        </p:nvSpPr>
        <p:spPr>
          <a:xfrm>
            <a:off x="7569199" y="4196960"/>
            <a:ext cx="2506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FBE93-06BA-414B-82D1-5CEDFD1BA6AA}"/>
              </a:ext>
            </a:extLst>
          </p:cNvPr>
          <p:cNvSpPr txBox="1"/>
          <p:nvPr/>
        </p:nvSpPr>
        <p:spPr>
          <a:xfrm>
            <a:off x="6468532" y="4566292"/>
            <a:ext cx="447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 + variance of errors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B5E93F-D92A-4B6F-8624-883D210CBE4B}"/>
              </a:ext>
            </a:extLst>
          </p:cNvPr>
          <p:cNvCxnSpPr>
            <a:cxnSpLocks/>
          </p:cNvCxnSpPr>
          <p:nvPr/>
        </p:nvCxnSpPr>
        <p:spPr>
          <a:xfrm>
            <a:off x="6468533" y="4566292"/>
            <a:ext cx="4224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555255-DEA7-4B24-B3D2-224B4490E469}"/>
              </a:ext>
            </a:extLst>
          </p:cNvPr>
          <p:cNvSpPr txBox="1"/>
          <p:nvPr/>
        </p:nvSpPr>
        <p:spPr>
          <a:xfrm>
            <a:off x="5156201" y="4381626"/>
            <a:ext cx="143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Reliability = </a:t>
            </a:r>
          </a:p>
        </p:txBody>
      </p:sp>
    </p:spTree>
    <p:extLst>
      <p:ext uri="{BB962C8B-B14F-4D97-AF65-F5344CB8AC3E}">
        <p14:creationId xmlns:p14="http://schemas.microsoft.com/office/powerpoint/2010/main" val="4191360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836160" y="3129824"/>
            <a:ext cx="8035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 the exercise in estimating reliability comes in how we split up “truth” and “error”</a:t>
            </a:r>
          </a:p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D3787-D25C-4EA6-B07D-760B31AE5881}"/>
              </a:ext>
            </a:extLst>
          </p:cNvPr>
          <p:cNvSpPr txBox="1"/>
          <p:nvPr/>
        </p:nvSpPr>
        <p:spPr>
          <a:xfrm>
            <a:off x="7406294" y="1712563"/>
            <a:ext cx="2506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FBE93-06BA-414B-82D1-5CEDFD1BA6AA}"/>
              </a:ext>
            </a:extLst>
          </p:cNvPr>
          <p:cNvSpPr txBox="1"/>
          <p:nvPr/>
        </p:nvSpPr>
        <p:spPr>
          <a:xfrm>
            <a:off x="6305627" y="2081895"/>
            <a:ext cx="447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 + variance of errors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B5E93F-D92A-4B6F-8624-883D210CBE4B}"/>
              </a:ext>
            </a:extLst>
          </p:cNvPr>
          <p:cNvCxnSpPr>
            <a:cxnSpLocks/>
          </p:cNvCxnSpPr>
          <p:nvPr/>
        </p:nvCxnSpPr>
        <p:spPr>
          <a:xfrm>
            <a:off x="6305628" y="2081895"/>
            <a:ext cx="4224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555255-DEA7-4B24-B3D2-224B4490E469}"/>
              </a:ext>
            </a:extLst>
          </p:cNvPr>
          <p:cNvSpPr txBox="1"/>
          <p:nvPr/>
        </p:nvSpPr>
        <p:spPr>
          <a:xfrm>
            <a:off x="4993296" y="1897229"/>
            <a:ext cx="143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Reliability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E51B-E7C9-46F1-803B-1240B1D3CFB6}"/>
              </a:ext>
            </a:extLst>
          </p:cNvPr>
          <p:cNvSpPr txBox="1"/>
          <p:nvPr/>
        </p:nvSpPr>
        <p:spPr>
          <a:xfrm>
            <a:off x="1090160" y="664634"/>
            <a:ext cx="103164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r>
              <a:rPr lang="en-GB" dirty="0"/>
              <a:t>So one way to think about “reliability” is the proportion of score variance that is attributed to true variance. 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E5997D-FC59-40BC-8021-FB703251D125}"/>
              </a:ext>
            </a:extLst>
          </p:cNvPr>
          <p:cNvGrpSpPr/>
          <p:nvPr/>
        </p:nvGrpSpPr>
        <p:grpSpPr>
          <a:xfrm>
            <a:off x="938311" y="3950283"/>
            <a:ext cx="3915648" cy="2629169"/>
            <a:chOff x="7302686" y="4001083"/>
            <a:chExt cx="3915648" cy="26291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D38E40-0599-45DE-AE06-D4EA36813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02686" y="4044192"/>
              <a:ext cx="2425516" cy="243046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27EC54-56BA-4CFA-B7AD-BF040F70E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2045" y="5419377"/>
              <a:ext cx="2656289" cy="121087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E3707B-3E4C-4F5C-9908-F6FD7927A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38246" y="4001083"/>
              <a:ext cx="1843489" cy="1124600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BA4134F-9D35-44AE-A0A4-AD5FBDD8C0BF}"/>
              </a:ext>
            </a:extLst>
          </p:cNvPr>
          <p:cNvSpPr txBox="1"/>
          <p:nvPr/>
        </p:nvSpPr>
        <p:spPr>
          <a:xfrm>
            <a:off x="5080387" y="4142069"/>
            <a:ext cx="5302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CRONBACH’S ALPHA</a:t>
            </a:r>
          </a:p>
          <a:p>
            <a:endParaRPr lang="en-GB" dirty="0"/>
          </a:p>
          <a:p>
            <a:r>
              <a:rPr lang="en-GB" dirty="0"/>
              <a:t>By using “average covariance” we are assuming all items are equally important. </a:t>
            </a:r>
          </a:p>
        </p:txBody>
      </p:sp>
    </p:spTree>
    <p:extLst>
      <p:ext uri="{BB962C8B-B14F-4D97-AF65-F5344CB8AC3E}">
        <p14:creationId xmlns:p14="http://schemas.microsoft.com/office/powerpoint/2010/main" val="1490331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836160" y="3129824"/>
            <a:ext cx="8035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 the exercise in estimating reliability comes in how we split up “truth” and “error”</a:t>
            </a:r>
          </a:p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D3787-D25C-4EA6-B07D-760B31AE5881}"/>
              </a:ext>
            </a:extLst>
          </p:cNvPr>
          <p:cNvSpPr txBox="1"/>
          <p:nvPr/>
        </p:nvSpPr>
        <p:spPr>
          <a:xfrm>
            <a:off x="7406294" y="1712563"/>
            <a:ext cx="2506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FBE93-06BA-414B-82D1-5CEDFD1BA6AA}"/>
              </a:ext>
            </a:extLst>
          </p:cNvPr>
          <p:cNvSpPr txBox="1"/>
          <p:nvPr/>
        </p:nvSpPr>
        <p:spPr>
          <a:xfrm>
            <a:off x="6305627" y="2081895"/>
            <a:ext cx="447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 + variance of errors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B5E93F-D92A-4B6F-8624-883D210CBE4B}"/>
              </a:ext>
            </a:extLst>
          </p:cNvPr>
          <p:cNvCxnSpPr>
            <a:cxnSpLocks/>
          </p:cNvCxnSpPr>
          <p:nvPr/>
        </p:nvCxnSpPr>
        <p:spPr>
          <a:xfrm>
            <a:off x="6305628" y="2081895"/>
            <a:ext cx="4224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555255-DEA7-4B24-B3D2-224B4490E469}"/>
              </a:ext>
            </a:extLst>
          </p:cNvPr>
          <p:cNvSpPr txBox="1"/>
          <p:nvPr/>
        </p:nvSpPr>
        <p:spPr>
          <a:xfrm>
            <a:off x="4993296" y="1897229"/>
            <a:ext cx="143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Reliability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E51B-E7C9-46F1-803B-1240B1D3CFB6}"/>
              </a:ext>
            </a:extLst>
          </p:cNvPr>
          <p:cNvSpPr txBox="1"/>
          <p:nvPr/>
        </p:nvSpPr>
        <p:spPr>
          <a:xfrm>
            <a:off x="1090160" y="664634"/>
            <a:ext cx="103164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r>
              <a:rPr lang="en-GB" dirty="0"/>
              <a:t>So one way to think about “reliability” is the proportion of score variance that is attributed to true variance.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D38E40-0599-45DE-AE06-D4EA36813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11" y="3993392"/>
            <a:ext cx="2425516" cy="24304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A4134F-9D35-44AE-A0A4-AD5FBDD8C0BF}"/>
              </a:ext>
            </a:extLst>
          </p:cNvPr>
          <p:cNvSpPr txBox="1"/>
          <p:nvPr/>
        </p:nvSpPr>
        <p:spPr>
          <a:xfrm>
            <a:off x="5080387" y="4142069"/>
            <a:ext cx="5302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MCDONALD’s OMEGA</a:t>
            </a:r>
          </a:p>
          <a:p>
            <a:endParaRPr lang="en-GB" dirty="0"/>
          </a:p>
          <a:p>
            <a:r>
              <a:rPr lang="en-GB" dirty="0"/>
              <a:t>By using factor loadings for “truth” we allow items to be differentially important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3EC194-FEA7-4640-AA9D-7710F9EDF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648" y="5407128"/>
            <a:ext cx="1652712" cy="1155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9FBB6E-09EA-4962-AE59-83065C4E3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144" y="3993392"/>
            <a:ext cx="2085720" cy="108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13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836160" y="3129824"/>
            <a:ext cx="80652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HOLD UP…!??!? </a:t>
            </a:r>
          </a:p>
          <a:p>
            <a:endParaRPr lang="en-GB" dirty="0"/>
          </a:p>
          <a:p>
            <a:r>
              <a:rPr lang="en-GB" dirty="0"/>
              <a:t>I thought reliability was about correlation of repeated tests? Or something like that?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D3787-D25C-4EA6-B07D-760B31AE5881}"/>
              </a:ext>
            </a:extLst>
          </p:cNvPr>
          <p:cNvSpPr txBox="1"/>
          <p:nvPr/>
        </p:nvSpPr>
        <p:spPr>
          <a:xfrm>
            <a:off x="7406294" y="1712563"/>
            <a:ext cx="2506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FBE93-06BA-414B-82D1-5CEDFD1BA6AA}"/>
              </a:ext>
            </a:extLst>
          </p:cNvPr>
          <p:cNvSpPr txBox="1"/>
          <p:nvPr/>
        </p:nvSpPr>
        <p:spPr>
          <a:xfrm>
            <a:off x="6305627" y="2081895"/>
            <a:ext cx="447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Variance in true scores + variance of errors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B5E93F-D92A-4B6F-8624-883D210CBE4B}"/>
              </a:ext>
            </a:extLst>
          </p:cNvPr>
          <p:cNvCxnSpPr>
            <a:cxnSpLocks/>
          </p:cNvCxnSpPr>
          <p:nvPr/>
        </p:nvCxnSpPr>
        <p:spPr>
          <a:xfrm>
            <a:off x="6305628" y="2081895"/>
            <a:ext cx="4224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555255-DEA7-4B24-B3D2-224B4490E469}"/>
              </a:ext>
            </a:extLst>
          </p:cNvPr>
          <p:cNvSpPr txBox="1"/>
          <p:nvPr/>
        </p:nvSpPr>
        <p:spPr>
          <a:xfrm>
            <a:off x="4993296" y="1897229"/>
            <a:ext cx="143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Reliability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E51B-E7C9-46F1-803B-1240B1D3CFB6}"/>
              </a:ext>
            </a:extLst>
          </p:cNvPr>
          <p:cNvSpPr txBox="1"/>
          <p:nvPr/>
        </p:nvSpPr>
        <p:spPr>
          <a:xfrm>
            <a:off x="1090160" y="664634"/>
            <a:ext cx="103164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r>
              <a:rPr lang="en-GB" dirty="0"/>
              <a:t>So one way to think about “reliability” is the proportion of score variance that is attributed to true variance.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342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827693" y="241459"/>
            <a:ext cx="80652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HOLD UP…!??!? </a:t>
            </a:r>
          </a:p>
          <a:p>
            <a:endParaRPr lang="en-GB" dirty="0"/>
          </a:p>
          <a:p>
            <a:r>
              <a:rPr lang="en-GB" dirty="0"/>
              <a:t>I thought reliability was about correlation of repeated tests? Or something like that?</a:t>
            </a:r>
          </a:p>
          <a:p>
            <a:endParaRPr lang="en-GB" dirty="0"/>
          </a:p>
          <a:p>
            <a:r>
              <a:rPr lang="en-GB" dirty="0"/>
              <a:t>Let’s suppose I weigh Dougal twice. I get two numbers..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16D2C-8CCF-43A2-996D-6154635A36BA}"/>
              </a:ext>
            </a:extLst>
          </p:cNvPr>
          <p:cNvSpPr/>
          <p:nvPr/>
        </p:nvSpPr>
        <p:spPr>
          <a:xfrm>
            <a:off x="4783666" y="1811869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“23.42kg”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BE73C2-EA2C-4C8B-B2C4-B2CA2F8712FA}"/>
              </a:ext>
            </a:extLst>
          </p:cNvPr>
          <p:cNvSpPr/>
          <p:nvPr/>
        </p:nvSpPr>
        <p:spPr>
          <a:xfrm>
            <a:off x="1210733" y="2429936"/>
            <a:ext cx="1507067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Dougal’s true weight: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23.51475…kg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D634BC-E488-4E77-B646-5834B7BBD4F1}"/>
              </a:ext>
            </a:extLst>
          </p:cNvPr>
          <p:cNvSpPr/>
          <p:nvPr/>
        </p:nvSpPr>
        <p:spPr>
          <a:xfrm>
            <a:off x="8136466" y="1811870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4A1D0B-9372-43FD-A8B3-A70CA98A450A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2717800" y="2366435"/>
            <a:ext cx="2065866" cy="618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588427-D5B8-4223-B8CE-7866E20E90C1}"/>
              </a:ext>
            </a:extLst>
          </p:cNvPr>
          <p:cNvCxnSpPr>
            <a:cxnSpLocks/>
            <a:stCxn id="10" idx="2"/>
            <a:endCxn id="8" idx="3"/>
          </p:cNvCxnSpPr>
          <p:nvPr/>
        </p:nvCxnSpPr>
        <p:spPr>
          <a:xfrm flipH="1">
            <a:off x="6096000" y="2366435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6EC80-03D9-472A-949B-DABF15F4C653}"/>
              </a:ext>
            </a:extLst>
          </p:cNvPr>
          <p:cNvSpPr/>
          <p:nvPr/>
        </p:nvSpPr>
        <p:spPr>
          <a:xfrm>
            <a:off x="4783666" y="3200402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“23.65kg”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7DB7331-AD3F-451D-9D5D-88AFCB03B573}"/>
              </a:ext>
            </a:extLst>
          </p:cNvPr>
          <p:cNvSpPr/>
          <p:nvPr/>
        </p:nvSpPr>
        <p:spPr>
          <a:xfrm>
            <a:off x="8136466" y="3200403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D974CB-0E7F-4E1D-B6EF-46CD8F5DBF6D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2717800" y="2984501"/>
            <a:ext cx="2065866" cy="7704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66E0FE-40C5-410F-8AF4-FE5C354F8BC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6096000" y="3754968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24D92E-0DA2-42F8-B9C1-C8A946B7630D}"/>
              </a:ext>
            </a:extLst>
          </p:cNvPr>
          <p:cNvSpPr txBox="1"/>
          <p:nvPr/>
        </p:nvSpPr>
        <p:spPr>
          <a:xfrm>
            <a:off x="638447" y="4703392"/>
            <a:ext cx="9123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Remember that diagrammatic models “imply” covariances. </a:t>
            </a:r>
          </a:p>
          <a:p>
            <a:r>
              <a:rPr lang="en-GB" dirty="0"/>
              <a:t>In this case, the only way in which weight_1 and weight_2 are related is via the true weight. </a:t>
            </a:r>
          </a:p>
          <a:p>
            <a:r>
              <a:rPr lang="en-GB" dirty="0" err="1"/>
              <a:t>cov</a:t>
            </a:r>
            <a:r>
              <a:rPr lang="en-GB" dirty="0"/>
              <a:t>(weight_1, weight_2) = 1*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CC3AD-BE7B-44BA-876E-9EF5F0FFE2D6}"/>
              </a:ext>
            </a:extLst>
          </p:cNvPr>
          <p:cNvSpPr txBox="1"/>
          <p:nvPr/>
        </p:nvSpPr>
        <p:spPr>
          <a:xfrm>
            <a:off x="3623733" y="23029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AD21A-BE22-496D-B34C-CB63CBA752BF}"/>
              </a:ext>
            </a:extLst>
          </p:cNvPr>
          <p:cNvSpPr txBox="1"/>
          <p:nvPr/>
        </p:nvSpPr>
        <p:spPr>
          <a:xfrm>
            <a:off x="3629085" y="30264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CF9230-B804-4E56-8C9F-1496A2FEA2AB}"/>
              </a:ext>
            </a:extLst>
          </p:cNvPr>
          <p:cNvSpPr txBox="1"/>
          <p:nvPr/>
        </p:nvSpPr>
        <p:spPr>
          <a:xfrm>
            <a:off x="7027770" y="2043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129600-1FFD-4E25-8C1E-94D27F81D366}"/>
              </a:ext>
            </a:extLst>
          </p:cNvPr>
          <p:cNvSpPr txBox="1"/>
          <p:nvPr/>
        </p:nvSpPr>
        <p:spPr>
          <a:xfrm>
            <a:off x="7027770" y="33957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36434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7B7B5F-A2E1-4DA9-A263-695ACA085AC0}"/>
              </a:ext>
            </a:extLst>
          </p:cNvPr>
          <p:cNvSpPr txBox="1"/>
          <p:nvPr/>
        </p:nvSpPr>
        <p:spPr>
          <a:xfrm>
            <a:off x="827693" y="241459"/>
            <a:ext cx="80652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HOLD UP…!??!? </a:t>
            </a:r>
          </a:p>
          <a:p>
            <a:endParaRPr lang="en-GB" dirty="0"/>
          </a:p>
          <a:p>
            <a:r>
              <a:rPr lang="en-GB" dirty="0"/>
              <a:t>I thought reliability was about correlation of repeated tests? Or something like that?</a:t>
            </a:r>
          </a:p>
          <a:p>
            <a:endParaRPr lang="en-GB" dirty="0"/>
          </a:p>
          <a:p>
            <a:r>
              <a:rPr lang="en-GB" dirty="0"/>
              <a:t>Let’s suppose I weigh Dougal twice. I get two numbers..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16D2C-8CCF-43A2-996D-6154635A36BA}"/>
              </a:ext>
            </a:extLst>
          </p:cNvPr>
          <p:cNvSpPr/>
          <p:nvPr/>
        </p:nvSpPr>
        <p:spPr>
          <a:xfrm>
            <a:off x="4783666" y="1811869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Score at time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BE73C2-EA2C-4C8B-B2C4-B2CA2F8712FA}"/>
              </a:ext>
            </a:extLst>
          </p:cNvPr>
          <p:cNvSpPr/>
          <p:nvPr/>
        </p:nvSpPr>
        <p:spPr>
          <a:xfrm>
            <a:off x="1210733" y="2429936"/>
            <a:ext cx="1507067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True scores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D634BC-E488-4E77-B646-5834B7BBD4F1}"/>
              </a:ext>
            </a:extLst>
          </p:cNvPr>
          <p:cNvSpPr/>
          <p:nvPr/>
        </p:nvSpPr>
        <p:spPr>
          <a:xfrm>
            <a:off x="8136466" y="1811870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 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4A1D0B-9372-43FD-A8B3-A70CA98A450A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2717800" y="2366435"/>
            <a:ext cx="2065866" cy="618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588427-D5B8-4223-B8CE-7866E20E90C1}"/>
              </a:ext>
            </a:extLst>
          </p:cNvPr>
          <p:cNvCxnSpPr>
            <a:cxnSpLocks/>
            <a:stCxn id="10" idx="2"/>
            <a:endCxn id="8" idx="3"/>
          </p:cNvCxnSpPr>
          <p:nvPr/>
        </p:nvCxnSpPr>
        <p:spPr>
          <a:xfrm flipH="1">
            <a:off x="6096000" y="2366435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6EC80-03D9-472A-949B-DABF15F4C653}"/>
              </a:ext>
            </a:extLst>
          </p:cNvPr>
          <p:cNvSpPr/>
          <p:nvPr/>
        </p:nvSpPr>
        <p:spPr>
          <a:xfrm>
            <a:off x="4783666" y="3200402"/>
            <a:ext cx="1312334" cy="11091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Score at time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7DB7331-AD3F-451D-9D5D-88AFCB03B573}"/>
              </a:ext>
            </a:extLst>
          </p:cNvPr>
          <p:cNvSpPr/>
          <p:nvPr/>
        </p:nvSpPr>
        <p:spPr>
          <a:xfrm>
            <a:off x="8136466" y="3200403"/>
            <a:ext cx="1134533" cy="110913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Error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D974CB-0E7F-4E1D-B6EF-46CD8F5DBF6D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2717800" y="2984501"/>
            <a:ext cx="2065866" cy="7704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66E0FE-40C5-410F-8AF4-FE5C354F8BC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6096000" y="3754968"/>
            <a:ext cx="2040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24D92E-0DA2-42F8-B9C1-C8A946B7630D}"/>
              </a:ext>
            </a:extLst>
          </p:cNvPr>
          <p:cNvSpPr txBox="1"/>
          <p:nvPr/>
        </p:nvSpPr>
        <p:spPr>
          <a:xfrm>
            <a:off x="638447" y="4703392"/>
            <a:ext cx="114096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Remember that diagrammatic models “imply” covariances. </a:t>
            </a:r>
          </a:p>
          <a:p>
            <a:r>
              <a:rPr lang="en-GB" dirty="0"/>
              <a:t>In this case, the only way in which scores at time1 and scores at time 2 are related is via the true weight. </a:t>
            </a:r>
          </a:p>
          <a:p>
            <a:r>
              <a:rPr lang="en-GB" dirty="0" err="1"/>
              <a:t>cov</a:t>
            </a:r>
            <a:r>
              <a:rPr lang="en-GB" dirty="0"/>
              <a:t>(time_1, time_2) = 1*var(T)*1</a:t>
            </a:r>
          </a:p>
          <a:p>
            <a:endParaRPr lang="en-GB" dirty="0"/>
          </a:p>
          <a:p>
            <a:r>
              <a:rPr lang="en-GB" dirty="0"/>
              <a:t>To get from </a:t>
            </a:r>
            <a:r>
              <a:rPr lang="en-GB" dirty="0" err="1"/>
              <a:t>cov</a:t>
            </a:r>
            <a:r>
              <a:rPr lang="en-GB" dirty="0"/>
              <a:t> to </a:t>
            </a:r>
            <a:r>
              <a:rPr lang="en-GB" dirty="0" err="1"/>
              <a:t>cor</a:t>
            </a:r>
            <a:r>
              <a:rPr lang="en-GB" dirty="0"/>
              <a:t>, we divide by </a:t>
            </a:r>
            <a:r>
              <a:rPr lang="en-GB" dirty="0" err="1"/>
              <a:t>sd</a:t>
            </a:r>
            <a:r>
              <a:rPr lang="en-GB" dirty="0"/>
              <a:t>(x)*</a:t>
            </a:r>
            <a:r>
              <a:rPr lang="en-GB" dirty="0" err="1"/>
              <a:t>sd</a:t>
            </a:r>
            <a:r>
              <a:rPr lang="en-GB" dirty="0"/>
              <a:t>(y). But because </a:t>
            </a:r>
            <a:r>
              <a:rPr lang="en-GB" dirty="0" err="1"/>
              <a:t>sd</a:t>
            </a:r>
            <a:r>
              <a:rPr lang="en-GB" dirty="0"/>
              <a:t>(error1) and </a:t>
            </a:r>
            <a:r>
              <a:rPr lang="en-GB" dirty="0" err="1"/>
              <a:t>sd</a:t>
            </a:r>
            <a:r>
              <a:rPr lang="en-GB" dirty="0"/>
              <a:t>(error2) are the same, the correlation between time1 and time2 becomes Var(T) / ( </a:t>
            </a:r>
            <a:r>
              <a:rPr lang="en-GB" dirty="0" err="1"/>
              <a:t>sd</a:t>
            </a:r>
            <a:r>
              <a:rPr lang="en-GB" dirty="0"/>
              <a:t>(T)+</a:t>
            </a:r>
            <a:r>
              <a:rPr lang="en-GB" dirty="0" err="1"/>
              <a:t>sd</a:t>
            </a:r>
            <a:r>
              <a:rPr lang="en-GB" dirty="0"/>
              <a:t>(E) + </a:t>
            </a:r>
            <a:r>
              <a:rPr lang="en-GB" dirty="0" err="1"/>
              <a:t>sd</a:t>
            </a:r>
            <a:r>
              <a:rPr lang="en-GB" dirty="0"/>
              <a:t>(T)+</a:t>
            </a:r>
            <a:r>
              <a:rPr lang="en-GB" dirty="0" err="1"/>
              <a:t>sd</a:t>
            </a:r>
            <a:r>
              <a:rPr lang="en-GB" dirty="0"/>
              <a:t>(E) ) =&gt;&gt; Var(T) / (Var(T)+Var(E))… </a:t>
            </a:r>
          </a:p>
          <a:p>
            <a:r>
              <a:rPr lang="en-GB" dirty="0"/>
              <a:t>Back to variance in true scores / </a:t>
            </a:r>
            <a:r>
              <a:rPr lang="en-GB"/>
              <a:t>total variance! 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CC3AD-BE7B-44BA-876E-9EF5F0FFE2D6}"/>
              </a:ext>
            </a:extLst>
          </p:cNvPr>
          <p:cNvSpPr txBox="1"/>
          <p:nvPr/>
        </p:nvSpPr>
        <p:spPr>
          <a:xfrm>
            <a:off x="3623733" y="23029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AD21A-BE22-496D-B34C-CB63CBA752BF}"/>
              </a:ext>
            </a:extLst>
          </p:cNvPr>
          <p:cNvSpPr txBox="1"/>
          <p:nvPr/>
        </p:nvSpPr>
        <p:spPr>
          <a:xfrm>
            <a:off x="3629085" y="30264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CF9230-B804-4E56-8C9F-1496A2FEA2AB}"/>
              </a:ext>
            </a:extLst>
          </p:cNvPr>
          <p:cNvSpPr txBox="1"/>
          <p:nvPr/>
        </p:nvSpPr>
        <p:spPr>
          <a:xfrm>
            <a:off x="7027770" y="2043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129600-1FFD-4E25-8C1E-94D27F81D366}"/>
              </a:ext>
            </a:extLst>
          </p:cNvPr>
          <p:cNvSpPr txBox="1"/>
          <p:nvPr/>
        </p:nvSpPr>
        <p:spPr>
          <a:xfrm>
            <a:off x="7027770" y="33957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620C3D71-700A-4126-9C5A-6F1DEE4F78C0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H="1">
            <a:off x="8781354" y="1734248"/>
            <a:ext cx="427871" cy="583114"/>
          </a:xfrm>
          <a:prstGeom prst="curvedConnector4">
            <a:avLst>
              <a:gd name="adj1" fmla="val -53427"/>
              <a:gd name="adj2" fmla="val 121873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F39ECB8A-A091-49E2-86C6-5D426515C7EF}"/>
              </a:ext>
            </a:extLst>
          </p:cNvPr>
          <p:cNvCxnSpPr>
            <a:cxnSpLocks/>
            <a:endCxn id="16" idx="6"/>
          </p:cNvCxnSpPr>
          <p:nvPr/>
        </p:nvCxnSpPr>
        <p:spPr>
          <a:xfrm rot="16200000" flipH="1">
            <a:off x="8853619" y="3337588"/>
            <a:ext cx="516718" cy="318041"/>
          </a:xfrm>
          <a:prstGeom prst="curvedConnector4">
            <a:avLst>
              <a:gd name="adj1" fmla="val -31904"/>
              <a:gd name="adj2" fmla="val 171878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F925047B-A05B-45DA-A182-209C5DE5CA04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5017" y="3144528"/>
            <a:ext cx="392137" cy="220705"/>
          </a:xfrm>
          <a:prstGeom prst="curvedConnector4">
            <a:avLst>
              <a:gd name="adj1" fmla="val -99717"/>
              <a:gd name="adj2" fmla="val 330171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443AD6-3EDC-495D-A33E-C895DB7A070B}"/>
              </a:ext>
            </a:extLst>
          </p:cNvPr>
          <p:cNvSpPr txBox="1"/>
          <p:nvPr/>
        </p:nvSpPr>
        <p:spPr>
          <a:xfrm>
            <a:off x="264787" y="3765090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Var(T)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0D97B4-3D92-448B-83A6-9064B090D17F}"/>
              </a:ext>
            </a:extLst>
          </p:cNvPr>
          <p:cNvSpPr txBox="1"/>
          <p:nvPr/>
        </p:nvSpPr>
        <p:spPr>
          <a:xfrm>
            <a:off x="9270999" y="1395996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Var(E)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D9D1EB-C34B-457E-8A55-6E154583FA81}"/>
              </a:ext>
            </a:extLst>
          </p:cNvPr>
          <p:cNvSpPr txBox="1"/>
          <p:nvPr/>
        </p:nvSpPr>
        <p:spPr>
          <a:xfrm>
            <a:off x="9340170" y="2874146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Var(E)</a:t>
            </a:r>
          </a:p>
        </p:txBody>
      </p:sp>
    </p:spTree>
    <p:extLst>
      <p:ext uri="{BB962C8B-B14F-4D97-AF65-F5344CB8AC3E}">
        <p14:creationId xmlns:p14="http://schemas.microsoft.com/office/powerpoint/2010/main" val="120819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791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6</cp:revision>
  <dcterms:created xsi:type="dcterms:W3CDTF">2025-09-23T13:09:31Z</dcterms:created>
  <dcterms:modified xsi:type="dcterms:W3CDTF">2025-09-23T14:07:38Z</dcterms:modified>
</cp:coreProperties>
</file>